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50800" cy="68580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4572000" cy="12700"/>
          </a:xfrm>
          <a:prstGeom prst="rect">
            <a:avLst/>
          </a:prstGeom>
          <a:solidFill>
            <a:srgbClr val="E8D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85A"/>
                </a:solidFill>
                <a:latin typeface="Microsoft YaHei"/>
              </a:defRPr>
            </a:pPr>
            <a:r>
              <a:t>东方商务社交空间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651760"/>
            <a:ext cx="1828800" cy="254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0D0"/>
                </a:solidFill>
                <a:latin typeface="Microsoft YaHei"/>
              </a:defRPr>
            </a:pPr>
            <a:r>
              <a:t>美团推流 · 落地行动方案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088"/>
                </a:solidFill>
                <a:latin typeface="Microsoft YaHei"/>
              </a:defRPr>
            </a:pPr>
            <a:r>
              <a:t>成都高新区 · 招商大魔方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5943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AA088"/>
                </a:solidFill>
                <a:latin typeface="Microsoft YaHei"/>
              </a:defRPr>
            </a:pPr>
            <a:r>
              <a:t>2026.05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0" y="457200"/>
            <a:ext cx="274320" cy="27432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0" y="457200"/>
            <a:ext cx="274320" cy="127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38100" cy="59436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8A85A"/>
                </a:solidFill>
                <a:latin typeface="Microsoft YaHei"/>
              </a:defRPr>
            </a:pPr>
            <a:r>
              <a:t>核心定位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3657600" cy="12700"/>
          </a:xfrm>
          <a:prstGeom prst="rect">
            <a:avLst/>
          </a:prstGeom>
          <a:solidFill>
            <a:srgbClr val="E8D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成都高新区 · 东方商务第三空间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7830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不是茶馆，是"空间时间售卖"的商务社交场所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057400"/>
            <a:ext cx="9144000" cy="6350"/>
          </a:xfrm>
          <a:prstGeom prst="rect">
            <a:avLst/>
          </a:prstGeom>
          <a:solidFill>
            <a:srgbClr val="2D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40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地址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5603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招商大魔方 · 257㎡ · 月固定成本35,000元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834640"/>
            <a:ext cx="9144000" cy="6350"/>
          </a:xfrm>
          <a:prstGeom prst="rect">
            <a:avLst/>
          </a:prstGeom>
          <a:solidFill>
            <a:srgbClr val="2D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17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目标客群（按优先级）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3375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① 高新区商务人群 ② 创业者/小团队 ③ 新中产女性 ④ 小型商务局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611880"/>
            <a:ext cx="9144000" cy="6350"/>
          </a:xfrm>
          <a:prstGeom prst="rect">
            <a:avLst/>
          </a:prstGeom>
          <a:solidFill>
            <a:srgbClr val="2D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94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一句话定位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148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"安静、体面、有文化感、适合谈事的东方空间"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C8A85A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第一阶段：店铺基建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40480"/>
            <a:ext cx="2743200" cy="25400"/>
          </a:xfrm>
          <a:prstGeom prst="rect">
            <a:avLst/>
          </a:prstGeom>
          <a:solidFill>
            <a:srgbClr val="E8D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0D0"/>
                </a:solidFill>
                <a:latin typeface="Microsoft YaHei"/>
              </a:defRPr>
            </a:pPr>
            <a:r>
              <a:t>第1-3天 · 美团店铺重构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38100" cy="59436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8A85A"/>
                </a:solidFill>
                <a:latin typeface="Microsoft YaHei"/>
              </a:defRPr>
            </a:pPr>
            <a:r>
              <a:t>Step 1 · 店铺定位与命名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3657600" cy="12700"/>
          </a:xfrm>
          <a:prstGeom prst="rect">
            <a:avLst/>
          </a:prstGeom>
          <a:solidFill>
            <a:srgbClr val="E8D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✅ 正确命名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7830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「新中式商务茶空间」或「东方美学商务茶馆」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057400"/>
            <a:ext cx="9144000" cy="6350"/>
          </a:xfrm>
          <a:prstGeom prst="rect">
            <a:avLst/>
          </a:prstGeom>
          <a:solidFill>
            <a:srgbClr val="2D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40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❌ 禁止使用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5603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「茶馆」「喝茶」「品茶」—— 太低频、太传统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834640"/>
            <a:ext cx="9144000" cy="6350"/>
          </a:xfrm>
          <a:prstGeom prst="rect">
            <a:avLst/>
          </a:prstGeom>
          <a:solidFill>
            <a:srgbClr val="2D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17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核心关键词（写进店铺介绍）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3375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商务接待、会议、独立包间、新中式、东方美学、高新区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611880"/>
            <a:ext cx="9144000" cy="6350"/>
          </a:xfrm>
          <a:prstGeom prst="rect">
            <a:avLst/>
          </a:prstGeom>
          <a:solidFill>
            <a:srgbClr val="2D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94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美团本质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148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不是团购平台，是成都本地流量搜索引擎。用户搜"商务茶空间"时你要排第一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38100" cy="59436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8A85A"/>
                </a:solidFill>
                <a:latin typeface="Microsoft YaHei"/>
              </a:defRPr>
            </a:pPr>
            <a:r>
              <a:t>Step 2 · 首页图片（决定生死）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3657600" cy="12700"/>
          </a:xfrm>
          <a:prstGeom prst="rect">
            <a:avLst/>
          </a:prstGeom>
          <a:solidFill>
            <a:srgbClr val="E8D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前3张图的要求（美团算法核心看点击率）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第1张 — 大包间全景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光影+木结构+东方感，参考安缦酒店风格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第2张 — 商务洽谈场景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974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人在谈事，茶具作点缀，安静体面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71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第3张 — 氛围细节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2918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局部留白、茶器、木纹、光影层次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566160"/>
            <a:ext cx="9144000" cy="6350"/>
          </a:xfrm>
          <a:prstGeom prst="rect">
            <a:avLst/>
          </a:prstGeom>
          <a:solidFill>
            <a:srgbClr val="2D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749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❌ 禁忌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0690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茶叶特写 / 空桌子 / 菜单截图 / 茶艺师特写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343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风格参考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6634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安缦暗调 · 无印良品极简 · 野兽派东方 · 新中式酒店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38100" cy="59436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8A85A"/>
                </a:solidFill>
                <a:latin typeface="Microsoft YaHei"/>
              </a:defRPr>
            </a:pPr>
            <a:r>
              <a:t>Step 3 · 美团标题模板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3657600" cy="12700"/>
          </a:xfrm>
          <a:prstGeom prst="rect">
            <a:avLst/>
          </a:prstGeom>
          <a:solidFill>
            <a:srgbClr val="E8D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模板一（商务首选）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7830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【商务接待｜会议洽谈｜新中式茶空间】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057400"/>
            <a:ext cx="9144000" cy="6350"/>
          </a:xfrm>
          <a:prstGeom prst="rect">
            <a:avLst/>
          </a:prstGeom>
          <a:solidFill>
            <a:srgbClr val="2D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40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模板二（年轻流量）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5603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【高新区新中式茶馆｜适合聊天谈事｜独立包间】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834640"/>
            <a:ext cx="9144000" cy="6350"/>
          </a:xfrm>
          <a:prstGeom prst="rect">
            <a:avLst/>
          </a:prstGeom>
          <a:solidFill>
            <a:srgbClr val="2D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17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模板三（高转化）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3375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【可会议·可商务接待·可包间聚会的新中式茶空间】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611880"/>
            <a:ext cx="9144000" cy="6350"/>
          </a:xfrm>
          <a:prstGeom prst="rect">
            <a:avLst/>
          </a:prstGeom>
          <a:solidFill>
            <a:srgbClr val="2D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94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大包改名（重要）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148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不要叫"大包间"，改叫"22人商务沙龙空间"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8A85A"/>
                </a:solidFill>
                <a:latin typeface="Microsoft YaHei"/>
              </a:defRPr>
            </a:pPr>
            <a:r>
              <a:t>Step 4 · 场景化SKU套餐设计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657600" cy="12700"/>
          </a:xfrm>
          <a:prstGeom prst="rect">
            <a:avLst/>
          </a:prstGeom>
          <a:solidFill>
            <a:srgbClr val="E8D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22C22"/>
                          </a:solidFill>
                        </a:defRPr>
                      </a:pPr>
                      <a:r>
                        <a:t>套餐</a:t>
                      </a:r>
                    </a:p>
                  </a:txBody>
                  <a:tcPr>
                    <a:solidFill>
                      <a:srgbClr val="C8A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22C22"/>
                          </a:solidFill>
                        </a:defRPr>
                      </a:pPr>
                      <a:r>
                        <a:t>价格</a:t>
                      </a:r>
                    </a:p>
                  </a:txBody>
                  <a:tcPr>
                    <a:solidFill>
                      <a:srgbClr val="C8A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22C22"/>
                          </a:solidFill>
                        </a:defRPr>
                      </a:pPr>
                      <a:r>
                        <a:t>目标客群</a:t>
                      </a:r>
                    </a:p>
                  </a:txBody>
                  <a:tcPr>
                    <a:solidFill>
                      <a:srgbClr val="C8A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22C22"/>
                          </a:solidFill>
                        </a:defRPr>
                      </a:pPr>
                      <a:r>
                        <a:t>核心卖点</a:t>
                      </a:r>
                    </a:p>
                  </a:txBody>
                  <a:tcPr>
                    <a:solidFill>
                      <a:srgbClr val="C8A8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商务洽谈双人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198元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商务双人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茶饮+茶点+2h卡座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小型会议4人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398元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小团队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包间+投屏+茶饮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商务局12人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888元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创业局/私董会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中包+茶饮+果盘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高端沙龙22人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1688~2688元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企业活动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全套商务服务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088"/>
                </a:solidFill>
                <a:latin typeface="Microsoft YaHei"/>
              </a:defRPr>
            </a:pPr>
            <a:r>
              <a:t>❌ 禁止只卖茶！卖的是「场景+空间」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C8A85A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第二阶段：点金推广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40480"/>
            <a:ext cx="2743200" cy="25400"/>
          </a:xfrm>
          <a:prstGeom prst="rect">
            <a:avLst/>
          </a:prstGeom>
          <a:solidFill>
            <a:srgbClr val="E8D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0D0"/>
                </a:solidFill>
                <a:latin typeface="Microsoft YaHei"/>
              </a:defRPr>
            </a:pPr>
            <a:r>
              <a:t>第4-30天 · 2000元/月预算精打细算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8A85A"/>
                </a:solidFill>
                <a:latin typeface="Microsoft YaHei"/>
              </a:defRPr>
            </a:pPr>
            <a:r>
              <a:t>Step 5 · 月预算结构（2000元）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657600" cy="12700"/>
          </a:xfrm>
          <a:prstGeom prst="rect">
            <a:avLst/>
          </a:prstGeom>
          <a:solidFill>
            <a:srgbClr val="E8D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88720"/>
          <a:ext cx="5943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22C22"/>
                          </a:solidFill>
                        </a:defRPr>
                      </a:pPr>
                      <a:r>
                        <a:t>模块</a:t>
                      </a:r>
                    </a:p>
                  </a:txBody>
                  <a:tcPr>
                    <a:solidFill>
                      <a:srgbClr val="C8A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22C22"/>
                          </a:solidFill>
                        </a:defRPr>
                      </a:pPr>
                      <a:r>
                        <a:t>预算</a:t>
                      </a:r>
                    </a:p>
                  </a:txBody>
                  <a:tcPr>
                    <a:solidFill>
                      <a:srgbClr val="C8A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22C22"/>
                          </a:solidFill>
                        </a:defRPr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C8A8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搜索推广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1200元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包间专项推广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600元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霸王餐/KOC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200元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088"/>
                </a:solidFill>
                <a:latin typeface="Microsoft YaHei"/>
              </a:defRPr>
            </a:pPr>
            <a:r>
              <a:t>每日预算：工作日40-60元 | 周末80元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38100" cy="59436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8A85A"/>
                </a:solidFill>
                <a:latin typeface="Microsoft YaHei"/>
              </a:defRPr>
            </a:pPr>
            <a:r>
              <a:t>Step 6 · 搜索推广关键词清单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3657600" cy="12700"/>
          </a:xfrm>
          <a:prstGeom prst="rect">
            <a:avLst/>
          </a:prstGeom>
          <a:solidFill>
            <a:srgbClr val="E8D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核心关键词（必投）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▸ 商务茶馆 · 茶室 · 包间茶馆 · 会议室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▸ 高新区茶馆 · 大魔方茶馆 · 金融城茶馆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23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▸ 洽谈 · 商务接待 · 适合谈事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743200"/>
            <a:ext cx="9144000" cy="6350"/>
          </a:xfrm>
          <a:prstGeom prst="rect">
            <a:avLst/>
          </a:prstGeom>
          <a:solidFill>
            <a:srgbClr val="2D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926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扩展关键词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46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▸ 下午茶 · 安静聊天 · 团建 · 小型会议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566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▸ 新中式茶馆 · 围炉煮茶 · 私密空间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38100" cy="59436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8A85A"/>
                </a:solidFill>
                <a:latin typeface="Microsoft YaHei"/>
              </a:defRPr>
            </a:pPr>
            <a:r>
              <a:t>Step 7 · 投放时段策略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3657600" cy="12700"/>
          </a:xfrm>
          <a:prstGeom prst="rect">
            <a:avLst/>
          </a:prstGeom>
          <a:solidFill>
            <a:srgbClr val="E8D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只投两个核心时段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13:00 - 18:00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商务下午场（核心利润时段）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19:00 - 22:00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974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社交/商务局（高客单时段）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971800"/>
            <a:ext cx="9144000" cy="6350"/>
          </a:xfrm>
          <a:prstGeom prst="rect">
            <a:avLst/>
          </a:prstGeom>
          <a:solidFill>
            <a:srgbClr val="2D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154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❌ 严禁全天投放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4747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凌晨烧钱 + 引来低质流量 + 浪费预算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749040"/>
            <a:ext cx="9144000" cy="6350"/>
          </a:xfrm>
          <a:prstGeom prst="rect">
            <a:avLst/>
          </a:prstGeom>
          <a:solidFill>
            <a:srgbClr val="2D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931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客群画像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519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不是学生，是商务人士、创业者、白领、小团队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8A85A"/>
                </a:solidFill>
                <a:latin typeface="Microsoft YaHei"/>
              </a:defRPr>
            </a:pPr>
            <a:r>
              <a:t>Step 8 · 三阶段投流策略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657600" cy="12700"/>
          </a:xfrm>
          <a:prstGeom prst="rect">
            <a:avLst/>
          </a:prstGeom>
          <a:solidFill>
            <a:srgbClr val="E8D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887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22C22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C8A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22C22"/>
                          </a:solidFill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C8A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22C22"/>
                          </a:solidFill>
                        </a:defRPr>
                      </a:pPr>
                      <a:r>
                        <a:t>日预算</a:t>
                      </a:r>
                    </a:p>
                  </a:txBody>
                  <a:tcPr>
                    <a:solidFill>
                      <a:srgbClr val="C8A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22C22"/>
                          </a:solidFill>
                        </a:defRPr>
                      </a:pPr>
                      <a:r>
                        <a:t>核心任务</a:t>
                      </a:r>
                    </a:p>
                  </a:txBody>
                  <a:tcPr>
                    <a:solidFill>
                      <a:srgbClr val="C8A8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建立权重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第1-7天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40元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搜索推广覆盖核心关键词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定向人群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第8-20天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60元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高消费+商务兴趣定向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包间专项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第21-30天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80元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会议包间独立推广计划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088"/>
                </a:solidFill>
                <a:latin typeface="Microsoft YaHei"/>
              </a:defRPr>
            </a:pPr>
            <a:r>
              <a:t>核心目标：不是订单量，是「包间预订量」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C8A85A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第三阶段：内容与口碑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40480"/>
            <a:ext cx="2743200" cy="25400"/>
          </a:xfrm>
          <a:prstGeom prst="rect">
            <a:avLst/>
          </a:prstGeom>
          <a:solidFill>
            <a:srgbClr val="E8D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0D0"/>
                </a:solidFill>
                <a:latin typeface="Microsoft YaHei"/>
              </a:defRPr>
            </a:pPr>
            <a:r>
              <a:t>持续运营 · KOC + 数据监控 + 多平台联动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38100" cy="59436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8A85A"/>
                </a:solidFill>
                <a:latin typeface="Microsoft YaHei"/>
              </a:defRPr>
            </a:pPr>
            <a:r>
              <a:t>Step 9 · 霸王餐/KOC运营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3657600" cy="12700"/>
          </a:xfrm>
          <a:prstGeom prst="rect">
            <a:avLst/>
          </a:prstGeom>
          <a:solidFill>
            <a:srgbClr val="E8D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每月2-4场霸王餐体验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▸ 定价88元：茶饮 + 茶点 + 90分钟体验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▸ 要求：必须上传照片 + 写真实体验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23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▸ 不是亏钱，是做「高质量图片评价」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743200"/>
            <a:ext cx="9144000" cy="6350"/>
          </a:xfrm>
          <a:prstGeom prst="rect">
            <a:avLst/>
          </a:prstGeom>
          <a:solidFill>
            <a:srgbClr val="2D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926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美团算法权重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2461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图片评价权重非常高 → 直接提升门店综合质量分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520440"/>
            <a:ext cx="9144000" cy="6350"/>
          </a:xfrm>
          <a:prstGeom prst="rect">
            <a:avLst/>
          </a:prstGeom>
          <a:solidFill>
            <a:srgbClr val="2D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703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KOC合作建议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0233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找本地小红书博主 → 体验+拍照+发笔记 → 双平台曝光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8A85A"/>
                </a:solidFill>
                <a:latin typeface="Microsoft YaHei"/>
              </a:defRPr>
            </a:pPr>
            <a:r>
              <a:t>Step 10 · 每周核心数据监控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657600" cy="12700"/>
          </a:xfrm>
          <a:prstGeom prst="rect">
            <a:avLst/>
          </a:prstGeom>
          <a:solidFill>
            <a:srgbClr val="E8D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88720"/>
          <a:ext cx="5943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22C22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C8A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22C22"/>
                          </a:solidFill>
                        </a:defRPr>
                      </a:pPr>
                      <a:r>
                        <a:t>目标值</a:t>
                      </a:r>
                    </a:p>
                  </a:txBody>
                  <a:tcPr>
                    <a:solidFill>
                      <a:srgbClr val="C8A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22C22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C8A8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点击率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&gt;8%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美团首页决定生死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入店率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&gt;15%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图片质量决定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收藏率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&gt;5%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关系后续推荐权重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包间咨询量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每周增长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核心KPI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点评图片数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持续增长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影响综合评分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088"/>
                </a:solidFill>
                <a:latin typeface="Microsoft YaHei"/>
              </a:defRPr>
            </a:pPr>
            <a:r>
              <a:t>美团排序 = 出价 × 门店综合质量（含点击率/转化率/好评率/图片质量）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38100" cy="59436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8A85A"/>
                </a:solidFill>
                <a:latin typeface="Microsoft YaHei"/>
              </a:defRPr>
            </a:pPr>
            <a:r>
              <a:t>Step 11 · 多平台联动矩阵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3657600" cy="12700"/>
          </a:xfrm>
          <a:prstGeom prst="rect">
            <a:avLst/>
          </a:prstGeom>
          <a:solidFill>
            <a:srgbClr val="E8D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美团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7830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搜索流量截流 → 场景化SKU + 精准投放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57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小红书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3774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审美种草 → "成都高新区适合谈事的东方空间"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51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大众点评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9718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信任转化 → 高质量图文评价积累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46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视频号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5661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熟人传播 → 空间光影短视频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840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抖音本地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1605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扩大曝光 → 定向成都本地用户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4434840"/>
            <a:ext cx="9144000" cy="6350"/>
          </a:xfrm>
          <a:prstGeom prst="rect">
            <a:avLst/>
          </a:prstGeom>
          <a:solidFill>
            <a:srgbClr val="2D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617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小红书爆款方向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9377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《成都终于有适合成年人聊天的地方了》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212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▸ 《高新区最安静的新中式茶空间》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532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▸ 《比咖啡馆更适合谈合作的地方》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C8A85A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第四阶段：线下转化与复购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40480"/>
            <a:ext cx="2743200" cy="25400"/>
          </a:xfrm>
          <a:prstGeom prst="rect">
            <a:avLst/>
          </a:prstGeom>
          <a:solidFill>
            <a:srgbClr val="E8D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0D0"/>
                </a:solidFill>
                <a:latin typeface="Microsoft YaHei"/>
              </a:defRPr>
            </a:pPr>
            <a:r>
              <a:t>第2个月起 · 空间利用率是核心KPI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8A85A"/>
                </a:solidFill>
                <a:latin typeface="Microsoft YaHei"/>
              </a:defRPr>
            </a:pPr>
            <a:r>
              <a:t>Step 12 · 月营收目标拆解（6.8~7.5万）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657600" cy="12700"/>
          </a:xfrm>
          <a:prstGeom prst="rect">
            <a:avLst/>
          </a:prstGeom>
          <a:solidFill>
            <a:srgbClr val="E8D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8872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22C22"/>
                          </a:solidFill>
                        </a:defRPr>
                      </a:pPr>
                      <a:r>
                        <a:t>收入来源</a:t>
                      </a:r>
                    </a:p>
                  </a:txBody>
                  <a:tcPr>
                    <a:solidFill>
                      <a:srgbClr val="C8A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22C22"/>
                          </a:solidFill>
                        </a:defRPr>
                      </a:pPr>
                      <a:r>
                        <a:t>数量</a:t>
                      </a:r>
                    </a:p>
                  </a:txBody>
                  <a:tcPr>
                    <a:solidFill>
                      <a:srgbClr val="C8A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22C22"/>
                          </a:solidFill>
                        </a:defRPr>
                      </a:pPr>
                      <a:r>
                        <a:t>客单价</a:t>
                      </a:r>
                    </a:p>
                  </a:txBody>
                  <a:tcPr>
                    <a:solidFill>
                      <a:srgbClr val="C8A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22C22"/>
                          </a:solidFill>
                        </a:defRPr>
                      </a:pPr>
                      <a:r>
                        <a:t>月营收</a:t>
                      </a:r>
                    </a:p>
                  </a:txBody>
                  <a:tcPr>
                    <a:solidFill>
                      <a:srgbClr val="C8A8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大包（22人）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10场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2000元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20,000元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中包（10-12人）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20场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800元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16,000元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小包+卡座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240桌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80元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19,200元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茶叶零售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5,000元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企业活动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2场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1500元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3,000元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088"/>
                </a:solidFill>
                <a:latin typeface="Microsoft YaHei"/>
              </a:defRPr>
            </a:pPr>
            <a:r>
              <a:t>盈亏平衡点：月营业额5万 | 目标区间：8万~12万/月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38100" cy="59436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8A85A"/>
                </a:solidFill>
                <a:latin typeface="Microsoft YaHei"/>
              </a:defRPr>
            </a:pPr>
            <a:r>
              <a:t>Step 13 · 固定主题活动圈层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3657600" cy="12700"/>
          </a:xfrm>
          <a:prstGeom prst="rect">
            <a:avLst/>
          </a:prstGeom>
          <a:solidFill>
            <a:srgbClr val="E8D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每周三晚 — 创业者茶会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7830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创业者圈层 → 高频复购 + 口碑传播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57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每周五晚 — 东方疗愈夜谈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3774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女性情绪消费 → 小红书自发传播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51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周末 — 小型分享沙龙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9718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社交人群 → 企业合作契机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46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工作日下午 — 联合办公茶空间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5661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白领/自由职业 → 工作日填充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840480"/>
            <a:ext cx="9144000" cy="6350"/>
          </a:xfrm>
          <a:prstGeom prst="rect">
            <a:avLst/>
          </a:prstGeom>
          <a:solidFill>
            <a:srgbClr val="2D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023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核心逻辑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3434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一场优质活动 = 20~50个精准用户。自然散客一天才几桌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617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企业合作方向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9377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联系创业社群/女性社群/读书会/心理疗愈/AI分享会 → 免费空间置换流量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38100" cy="59436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8A85A"/>
                </a:solidFill>
                <a:latin typeface="Microsoft YaHei"/>
              </a:defRPr>
            </a:pPr>
            <a:r>
              <a:t>Step 14 · 东方会客厅会员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3657600" cy="12700"/>
          </a:xfrm>
          <a:prstGeom prst="rect">
            <a:avLst/>
          </a:prstGeom>
          <a:solidFill>
            <a:srgbClr val="E8D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年费：1,999元/年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783080"/>
            <a:ext cx="9144000" cy="6350"/>
          </a:xfrm>
          <a:prstGeom prst="rect">
            <a:avLst/>
          </a:prstGeom>
          <a:solidFill>
            <a:srgbClr val="2D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权益包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▸ · 包间折扣（8折）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06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▸ · 专属茶品（每月一款限定）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26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▸ · 优先预定（无需排队）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46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▸ · 茶会活动（免费参与）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566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▸ · 企业会议优惠（免费试用投屏）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886200"/>
            <a:ext cx="9144000" cy="6350"/>
          </a:xfrm>
          <a:prstGeom prst="rect">
            <a:avLst/>
          </a:prstGeom>
          <a:solidFill>
            <a:srgbClr val="2D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069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❌ 不要做低价充值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3891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"充值500送50"太low，配不上东方商务调性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C8A85A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第五阶段：避坑指南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40480"/>
            <a:ext cx="2743200" cy="25400"/>
          </a:xfrm>
          <a:prstGeom prst="rect">
            <a:avLst/>
          </a:prstGeom>
          <a:solidFill>
            <a:srgbClr val="E8D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0D0"/>
                </a:solidFill>
                <a:latin typeface="Microsoft YaHei"/>
              </a:defRPr>
            </a:pPr>
            <a:r>
              <a:t>绝对不能犯的7个错误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38100" cy="59436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8A85A"/>
                </a:solidFill>
                <a:latin typeface="Microsoft YaHei"/>
              </a:defRPr>
            </a:pPr>
            <a:r>
              <a:t>❌ 绝对不能做的事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3657600" cy="12700"/>
          </a:xfrm>
          <a:prstGeom prst="rect">
            <a:avLst/>
          </a:prstGeom>
          <a:solidFill>
            <a:srgbClr val="E8D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① 低价团购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7830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吸引打牌+久坐+低消费人群，毁掉空间调性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57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② "9.9喝茶"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3774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直接拉低品牌价值，永远别碰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51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③ 全天候投流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9718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凌晨也在烧钱，引来低质流量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46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④ 变成棋牌室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5661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高新区年轻人不会来，商业模式直接死亡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840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⑤ 只讲茶文化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1605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用户不关心。买的是情绪+社交+空间价值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434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⑥ 只卖茶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7548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坪效撑不起257㎡，空间时间才是核心商品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029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⑦ 疯狂买曝光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349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美团不是抖音！转化率比曝光重要一百倍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38100" cy="59436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8A85A"/>
                </a:solidFill>
                <a:latin typeface="Microsoft YaHei"/>
              </a:defRPr>
            </a:pPr>
            <a:r>
              <a:t>✅ 核心原则与最终定位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3657600" cy="12700"/>
          </a:xfrm>
          <a:prstGeom prst="rect">
            <a:avLst/>
          </a:prstGeom>
          <a:solidFill>
            <a:srgbClr val="E8D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一句话最终定位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7830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"成都高新区的东方商务第三空间"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057400"/>
            <a:ext cx="9144000" cy="6350"/>
          </a:xfrm>
          <a:prstGeom prst="rect">
            <a:avLst/>
          </a:prstGeom>
          <a:solidFill>
            <a:srgbClr val="2D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40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核心商业模式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60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▸ 卖空间 → 不卖茶（包间费是第一利润）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▸ 卖关系、卖氛围、卖时间、卖身份感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00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▸ 70%精力做B端，30%精力做C端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520440"/>
            <a:ext cx="9144000" cy="6350"/>
          </a:xfrm>
          <a:prstGeom prst="rect">
            <a:avLst/>
          </a:prstGeom>
          <a:solidFill>
            <a:srgbClr val="2D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703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美团角色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0233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不是主要盈利来源，是"搜索截流工具"。真正成交在线下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4297680"/>
            <a:ext cx="9144000" cy="6350"/>
          </a:xfrm>
          <a:prstGeom prst="rect">
            <a:avLst/>
          </a:prstGeom>
          <a:solidFill>
            <a:srgbClr val="2D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80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A85A"/>
                </a:solidFill>
                <a:latin typeface="Microsoft YaHei"/>
              </a:defRPr>
            </a:pPr>
            <a:r>
              <a:t>真正卖什么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8006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"适合成年人谈事的地方"——这个需求在成都高新区非常大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8A85A"/>
                </a:solidFill>
                <a:latin typeface="Microsoft YaHei"/>
              </a:defRPr>
            </a:pPr>
            <a:r>
              <a:t>完整执行时间线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657600" cy="12700"/>
          </a:xfrm>
          <a:prstGeom prst="rect">
            <a:avLst/>
          </a:prstGeom>
          <a:solidFill>
            <a:srgbClr val="E8D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8872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22C22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C8A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22C22"/>
                          </a:solidFill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C8A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22C22"/>
                          </a:solidFill>
                        </a:defRPr>
                      </a:pPr>
                      <a:r>
                        <a:t>核心任务</a:t>
                      </a:r>
                    </a:p>
                  </a:txBody>
                  <a:tcPr>
                    <a:solidFill>
                      <a:srgbClr val="C8A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22C22"/>
                          </a:solidFill>
                        </a:defRPr>
                      </a:pPr>
                      <a:r>
                        <a:t>预算</a:t>
                      </a:r>
                    </a:p>
                  </a:txBody>
                  <a:tcPr>
                    <a:solidFill>
                      <a:srgbClr val="C8A8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基建期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第1-3天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定位·图片·标题·SKU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推广期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第4-7天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搜索推广·关键词·时段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40元/天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优化期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第8-20天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定向人群·提升转化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60元/天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深耕期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第21-30天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包间专项·KOC·数据监控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80元/天</a:t>
                      </a:r>
                    </a:p>
                  </a:txBody>
                  <a:tcPr>
                    <a:solidFill>
                      <a:srgbClr val="1632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稳定期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第2个月起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活动圈层·会员·B端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0D0"/>
                          </a:solidFill>
                        </a:defRPr>
                      </a:pPr>
                      <a:r>
                        <a:t>2000元/月</a:t>
                      </a:r>
                    </a:p>
                  </a:txBody>
                  <a:tcPr>
                    <a:solidFill>
                      <a:srgbClr val="1E3E3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088"/>
                </a:solidFill>
                <a:latin typeface="Microsoft YaHei"/>
              </a:defRPr>
            </a:pPr>
            <a:r>
              <a:t>目标：月营收8~12万 | 包间利用率持续提升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286000"/>
            <a:ext cx="2743200" cy="254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C8A85A"/>
                </a:solidFill>
                <a:latin typeface="Microsoft YaHei"/>
              </a:defRPr>
            </a:pPr>
            <a:r>
              <a:t>东方商务社交空间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0D0"/>
                </a:solidFill>
                <a:latin typeface="Microsoft YaHei"/>
              </a:defRPr>
            </a:pPr>
            <a:r>
              <a:t>成都高新区 · 招商大魔方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088"/>
                </a:solidFill>
                <a:latin typeface="Microsoft YaHei"/>
              </a:defRPr>
            </a:pPr>
            <a:r>
              <a:t>从卖茶到卖空间 · 从流量到留量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0" y="5943600"/>
            <a:ext cx="731520" cy="457200"/>
          </a:xfrm>
          <a:prstGeom prst="rect">
            <a:avLst/>
          </a:prstGeom>
          <a:solidFill>
            <a:srgbClr val="C8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