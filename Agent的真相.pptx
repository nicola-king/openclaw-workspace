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E0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1D1D1F"/>
                </a:solidFill>
              </a:rPr>
              <a:t>AGENT 的真相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3832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9A9A"/>
                </a:solidFill>
              </a:rPr>
              <a:t>一场递归嵌套的游戏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4206240"/>
            <a:ext cx="2011680" cy="12700"/>
          </a:xfrm>
          <a:prstGeom prst="rect">
            <a:avLst/>
          </a:prstGeom>
          <a:solidFill>
            <a:srgbClr val="E6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480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6868B"/>
                </a:solidFill>
              </a:rPr>
              <a:t>Skills 不是活物  ·  升级不用拆房子  ·  你可以自己搭一个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937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EAEB4"/>
                </a:solidFill>
              </a:rPr>
              <a:t>太一 × SAYELF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E0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011680" cy="365760"/>
          </a:xfrm>
          <a:prstGeom prst="roundRect">
            <a:avLst/>
          </a:prstGeom>
          <a:solidFill>
            <a:srgbClr val="E0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06D6D"/>
                </a:solidFill>
              </a:rPr>
              <a:t>卡片一 / 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43000"/>
            <a:ext cx="50800" cy="457200"/>
          </a:xfrm>
          <a:prstGeom prst="roundRect">
            <a:avLst/>
          </a:prstGeom>
          <a:solidFill>
            <a:srgbClr val="00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09728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D1D1F"/>
                </a:solidFill>
              </a:rPr>
              <a:t>Skills 是系统调度，还是自己醒过来干活？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65960"/>
            <a:ext cx="10515600" cy="12700"/>
          </a:xfrm>
          <a:prstGeom prst="rect">
            <a:avLst/>
          </a:prstGeom>
          <a:solidFill>
            <a:srgbClr val="E6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6920" y="2402840"/>
            <a:ext cx="10515600" cy="3840480"/>
          </a:xfrm>
          <a:prstGeom prst="roundRect">
            <a:avLst/>
          </a:prstGeom>
          <a:solidFill>
            <a:srgbClr val="DE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2377440"/>
            <a:ext cx="1051560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256032" rIns="457200" wrap="square"/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1D1D1F"/>
                </a:solidFill>
              </a:rPr>
              <a:t>Skills 是肌肉，不是大脑。</a:t>
            </a:r>
          </a:p>
          <a:p>
            <a:pPr algn="l">
              <a:spcAft>
                <a:spcPts val="300"/>
              </a:spcAft>
            </a:pP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1D1D1F"/>
                </a:solidFill>
              </a:rPr>
              <a:t>它们不会自己醒来。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1D1D1F"/>
                </a:solidFill>
              </a:rPr>
              <a:t>不会自己决定做什么。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1D1D1F"/>
                </a:solidFill>
              </a:rPr>
              <a:t>不会自己调用自己。</a:t>
            </a:r>
          </a:p>
          <a:p>
            <a:pPr algn="l">
              <a:spcAft>
                <a:spcPts val="300"/>
              </a:spcAft>
            </a:pP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1D1D1F"/>
                </a:solidFill>
              </a:rPr>
              <a:t>调用链只有一条：</a:t>
            </a:r>
          </a:p>
          <a:p>
            <a:pPr algn="l">
              <a:spcAft>
                <a:spcPts val="300"/>
              </a:spcAft>
            </a:pPr>
            <a:r>
              <a:rPr sz="1700" b="1">
                <a:solidFill>
                  <a:srgbClr val="009A9A"/>
                </a:solidFill>
              </a:rPr>
              <a:t>  你 → 主脑 → 判断 → 调 Skill → 执行 → 回你</a:t>
            </a:r>
          </a:p>
          <a:p>
            <a:pPr algn="l">
              <a:spcAft>
                <a:spcPts val="300"/>
              </a:spcAft>
            </a:pP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86868B"/>
                </a:solidFill>
              </a:rPr>
              <a:t>哪怕旅游 Agent 查个日历，也得先经过大脑。</a:t>
            </a:r>
          </a:p>
          <a:p>
            <a:pPr algn="l">
              <a:spcAft>
                <a:spcPts val="300"/>
              </a:spcAft>
            </a:pPr>
            <a:r>
              <a:rPr sz="1700" b="1">
                <a:solidFill>
                  <a:srgbClr val="FF6B8A"/>
                </a:solidFill>
              </a:rPr>
              <a:t>Skills 是工具，不是活物。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FF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011680" cy="365760"/>
          </a:xfrm>
          <a:prstGeom prst="roundRect">
            <a:avLst/>
          </a:prstGeom>
          <a:solidFill>
            <a:srgbClr val="E0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06D6D"/>
                </a:solidFill>
              </a:rPr>
              <a:t>卡片二 / 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43000"/>
            <a:ext cx="50800" cy="457200"/>
          </a:xfrm>
          <a:prstGeom prst="roundRect">
            <a:avLst/>
          </a:prstGeom>
          <a:solidFill>
            <a:srgbClr val="00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09728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D1D1F"/>
                </a:solidFill>
              </a:rPr>
              <a:t>聚合型 Agent 能自己进化吗？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65960"/>
            <a:ext cx="10515600" cy="12700"/>
          </a:xfrm>
          <a:prstGeom prst="rect">
            <a:avLst/>
          </a:prstGeom>
          <a:solidFill>
            <a:srgbClr val="E6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6920" y="2402840"/>
            <a:ext cx="10515600" cy="3840480"/>
          </a:xfrm>
          <a:prstGeom prst="roundRect">
            <a:avLst/>
          </a:prstGeom>
          <a:solidFill>
            <a:srgbClr val="DE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2377440"/>
            <a:ext cx="1051560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256032" rIns="457200" wrap="square"/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1D1D1F"/>
                </a:solidFill>
              </a:rPr>
              <a:t>能，但关在笼子里进化。</a:t>
            </a:r>
          </a:p>
          <a:p>
            <a:pPr algn="l">
              <a:spcAft>
                <a:spcPts val="300"/>
              </a:spcAft>
            </a:pP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1D1D1F"/>
                </a:solidFill>
              </a:rPr>
              <a:t>旅游 Agent 肚子里有个小编排层——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1D1D1F"/>
                </a:solidFill>
              </a:rPr>
              <a:t>  能优化搜索、调权重、排性价比。</a:t>
            </a:r>
          </a:p>
          <a:p>
            <a:pPr algn="l">
              <a:spcAft>
                <a:spcPts val="300"/>
              </a:spcAft>
            </a:pP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1D1D1F"/>
                </a:solidFill>
              </a:rPr>
              <a:t>但跨出自己那一亩三分地？</a:t>
            </a:r>
          </a:p>
          <a:p>
            <a:pPr algn="l">
              <a:spcAft>
                <a:spcPts val="300"/>
              </a:spcAft>
            </a:pPr>
            <a:r>
              <a:rPr sz="1700" b="1">
                <a:solidFill>
                  <a:srgbClr val="FF6B8A"/>
                </a:solidFill>
              </a:rPr>
              <a:t>  ✖ 做不到。</a:t>
            </a:r>
          </a:p>
          <a:p>
            <a:pPr algn="l">
              <a:spcAft>
                <a:spcPts val="300"/>
              </a:spcAft>
            </a:pPr>
          </a:p>
          <a:p>
            <a:pPr algn="l">
              <a:spcAft>
                <a:spcPts val="300"/>
              </a:spcAft>
            </a:pPr>
            <a:r>
              <a:rPr sz="1700" b="1">
                <a:solidFill>
                  <a:srgbClr val="009A9A"/>
                </a:solidFill>
              </a:rPr>
              <a:t>真正的自进化，需要全局大脑来调度。</a:t>
            </a:r>
          </a:p>
          <a:p>
            <a:pPr algn="l">
              <a:spcAft>
                <a:spcPts val="300"/>
              </a:spcAft>
            </a:pP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1D1D1F"/>
                </a:solidFill>
              </a:rPr>
              <a:t>域内进化 ≠ 跨域进化。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86868B"/>
                </a:solidFill>
              </a:rPr>
              <a:t>你会背菜谱，不代表你能开米其林。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E0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011680" cy="365760"/>
          </a:xfrm>
          <a:prstGeom prst="roundRect">
            <a:avLst/>
          </a:prstGeom>
          <a:solidFill>
            <a:srgbClr val="E0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06D6D"/>
                </a:solidFill>
              </a:rPr>
              <a:t>卡片三 / 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43000"/>
            <a:ext cx="50800" cy="457200"/>
          </a:xfrm>
          <a:prstGeom prst="roundRect">
            <a:avLst/>
          </a:prstGeom>
          <a:solidFill>
            <a:srgbClr val="00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09728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D1D1F"/>
                </a:solidFill>
              </a:rPr>
              <a:t>升级成独立 Agent，架构要重写吗？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65960"/>
            <a:ext cx="10515600" cy="12700"/>
          </a:xfrm>
          <a:prstGeom prst="rect">
            <a:avLst/>
          </a:prstGeom>
          <a:solidFill>
            <a:srgbClr val="E6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6920" y="2402840"/>
            <a:ext cx="10515600" cy="3840480"/>
          </a:xfrm>
          <a:prstGeom prst="roundRect">
            <a:avLst/>
          </a:prstGeom>
          <a:solidFill>
            <a:srgbClr val="DE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2377440"/>
            <a:ext cx="1051560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256032" rIns="457200" wrap="square"/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009A9A"/>
                </a:solidFill>
              </a:rPr>
              <a:t>一个字：不。</a:t>
            </a:r>
          </a:p>
          <a:p>
            <a:pPr algn="l">
              <a:spcAft>
                <a:spcPts val="300"/>
              </a:spcAft>
            </a:pP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1D1D1F"/>
                </a:solidFill>
              </a:rPr>
              <a:t>现在的 Agent 只是 Skill 聚合层披着 Agent 的皮。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1D1D1F"/>
                </a:solidFill>
              </a:rPr>
              <a:t>真升格，只需加四层壳——</a:t>
            </a:r>
          </a:p>
          <a:p>
            <a:pPr algn="l">
              <a:spcAft>
                <a:spcPts val="300"/>
              </a:spcAft>
            </a:pPr>
          </a:p>
          <a:p>
            <a:pPr algn="l">
              <a:spcAft>
                <a:spcPts val="300"/>
              </a:spcAft>
            </a:pPr>
            <a:r>
              <a:rPr sz="1500" b="1">
                <a:solidFill>
                  <a:srgbClr val="34C759"/>
                </a:solidFill>
              </a:rPr>
              <a:t>  ✅ 业务逻辑        不动</a:t>
            </a:r>
          </a:p>
          <a:p>
            <a:pPr algn="l">
              <a:spcAft>
                <a:spcPts val="300"/>
              </a:spcAft>
            </a:pPr>
            <a:r>
              <a:rPr sz="1500" b="1">
                <a:solidFill>
                  <a:srgbClr val="34C759"/>
                </a:solidFill>
              </a:rPr>
              <a:t>  ✅ 子 Skills       不动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006D6D"/>
                </a:solidFill>
              </a:rPr>
              <a:t>  ➕ Gateway 配置    新增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006D6D"/>
                </a:solidFill>
              </a:rPr>
              <a:t>  ➕ 通讯模块        新增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006D6D"/>
                </a:solidFill>
              </a:rPr>
              <a:t>  ➕ 模型路由        新增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006D6D"/>
                </a:solidFill>
              </a:rPr>
              <a:t>  ➕ 记忆/人格层     新增</a:t>
            </a:r>
          </a:p>
          <a:p>
            <a:pPr algn="l">
              <a:spcAft>
                <a:spcPts val="300"/>
              </a:spcAft>
            </a:pPr>
          </a:p>
          <a:p>
            <a:pPr algn="l">
              <a:spcAft>
                <a:spcPts val="300"/>
              </a:spcAft>
            </a:pPr>
            <a:r>
              <a:rPr sz="1700" b="1">
                <a:solidFill>
                  <a:srgbClr val="FF6B8A"/>
                </a:solidFill>
              </a:rPr>
              <a:t>业务一行不改，加壳不进肚。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E0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011680" cy="365760"/>
          </a:xfrm>
          <a:prstGeom prst="roundRect">
            <a:avLst/>
          </a:prstGeom>
          <a:solidFill>
            <a:srgbClr val="E0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06D6D"/>
                </a:solidFill>
              </a:rPr>
              <a:t>卡片四 / 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43000"/>
            <a:ext cx="50800" cy="457200"/>
          </a:xfrm>
          <a:prstGeom prst="roundRect">
            <a:avLst/>
          </a:prstGeom>
          <a:solidFill>
            <a:srgbClr val="00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09728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D1D1F"/>
                </a:solidFill>
              </a:rPr>
              <a:t>OpenClaw 的本质到底是什么？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65960"/>
            <a:ext cx="10515600" cy="12700"/>
          </a:xfrm>
          <a:prstGeom prst="rect">
            <a:avLst/>
          </a:prstGeom>
          <a:solidFill>
            <a:srgbClr val="E6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6920" y="2402840"/>
            <a:ext cx="10515600" cy="3840480"/>
          </a:xfrm>
          <a:prstGeom prst="roundRect">
            <a:avLst/>
          </a:prstGeom>
          <a:solidFill>
            <a:srgbClr val="DE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2377440"/>
            <a:ext cx="1051560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256032" rIns="457200" wrap="square"/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D1D1F"/>
                </a:solidFill>
              </a:rPr>
              <a:t>剥掉所有包装，就一句话：</a:t>
            </a:r>
          </a:p>
          <a:p>
            <a:pPr algn="l">
              <a:spcAft>
                <a:spcPts val="300"/>
              </a:spcAft>
            </a:pPr>
          </a:p>
          <a:p>
            <a:pPr algn="l">
              <a:spcAft>
                <a:spcPts val="300"/>
              </a:spcAft>
            </a:pPr>
            <a:r>
              <a:rPr sz="1600" b="1">
                <a:solidFill>
                  <a:srgbClr val="009A9A"/>
                </a:solidFill>
              </a:rPr>
              <a:t>  你 → Telegram → Gateway → 路由 → 决策 → 调工具 → 回你</a:t>
            </a:r>
          </a:p>
          <a:p>
            <a:pPr algn="l">
              <a:spcAft>
                <a:spcPts val="300"/>
              </a:spcAft>
            </a:pP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1D1D1F"/>
                </a:solidFill>
              </a:rPr>
              <a:t>这就是 Agent 的完整定义：感知 → 思考 → 行动。</a:t>
            </a:r>
          </a:p>
          <a:p>
            <a:pPr algn="l">
              <a:spcAft>
                <a:spcPts val="300"/>
              </a:spcAft>
            </a:pP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1D1D1F"/>
                </a:solidFill>
              </a:rPr>
              <a:t>OpenClaw 多做了一件事：</a:t>
            </a:r>
          </a:p>
          <a:p>
            <a:pPr algn="l">
              <a:spcAft>
                <a:spcPts val="300"/>
              </a:spcAft>
            </a:pPr>
            <a:r>
              <a:rPr sz="1700" b="1">
                <a:solidFill>
                  <a:srgbClr val="FF6B8A"/>
                </a:solidFill>
              </a:rPr>
              <a:t>把自己做成了可递归实例化的框架。</a:t>
            </a:r>
          </a:p>
          <a:p>
            <a:pPr algn="l">
              <a:spcAft>
                <a:spcPts val="300"/>
              </a:spcAft>
            </a:pP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1D1D1F"/>
                </a:solidFill>
              </a:rPr>
              <a:t>就像一个语言可以自举编译，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1D1D1F"/>
                </a:solidFill>
              </a:rPr>
              <a:t>一个 Agent 可以自举出子 Agent。</a:t>
            </a:r>
          </a:p>
          <a:p>
            <a:pPr algn="l">
              <a:spcAft>
                <a:spcPts val="300"/>
              </a:spcAft>
            </a:pPr>
          </a:p>
          <a:p>
            <a:pPr algn="l">
              <a:spcAft>
                <a:spcPts val="300"/>
              </a:spcAft>
            </a:pPr>
            <a:r>
              <a:rPr sz="1800" b="1">
                <a:solidFill>
                  <a:srgbClr val="006D6D"/>
                </a:solidFill>
              </a:rPr>
              <a:t>OpenClaw 不是一个 Agent 平台——</a:t>
            </a:r>
          </a:p>
          <a:p>
            <a:pPr algn="l">
              <a:spcAft>
                <a:spcPts val="300"/>
              </a:spcAft>
            </a:pPr>
            <a:r>
              <a:rPr sz="1800" b="1">
                <a:solidFill>
                  <a:srgbClr val="006D6D"/>
                </a:solidFill>
              </a:rPr>
              <a:t>它就是一个会生孩子的 Agent。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E0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011680" cy="365760"/>
          </a:xfrm>
          <a:prstGeom prst="roundRect">
            <a:avLst/>
          </a:prstGeom>
          <a:solidFill>
            <a:srgbClr val="E0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06D6D"/>
                </a:solidFill>
              </a:rPr>
              <a:t>卡片五 / 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43000"/>
            <a:ext cx="50800" cy="457200"/>
          </a:xfrm>
          <a:prstGeom prst="roundRect">
            <a:avLst/>
          </a:prstGeom>
          <a:solidFill>
            <a:srgbClr val="00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09728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D1D1F"/>
                </a:solidFill>
              </a:rPr>
              <a:t>所有 Agent 平台，本质都一样吗？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65960"/>
            <a:ext cx="10515600" cy="12700"/>
          </a:xfrm>
          <a:prstGeom prst="rect">
            <a:avLst/>
          </a:prstGeom>
          <a:solidFill>
            <a:srgbClr val="E6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6920" y="2402840"/>
            <a:ext cx="10515600" cy="3840480"/>
          </a:xfrm>
          <a:prstGeom prst="roundRect">
            <a:avLst/>
          </a:prstGeom>
          <a:solidFill>
            <a:srgbClr val="DE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2377440"/>
            <a:ext cx="1051560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256032" rIns="457200" wrap="square"/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D1D1F"/>
                </a:solidFill>
              </a:rPr>
              <a:t>剥到底，所有 Agent 平台的本质：</a:t>
            </a:r>
          </a:p>
          <a:p>
            <a:pPr algn="l">
              <a:spcAft>
                <a:spcPts val="300"/>
              </a:spcAft>
            </a:pPr>
          </a:p>
          <a:p>
            <a:pPr algn="l">
              <a:spcAft>
                <a:spcPts val="300"/>
              </a:spcAft>
            </a:pPr>
            <a:r>
              <a:rPr sz="1700" b="1">
                <a:solidFill>
                  <a:srgbClr val="009A9A"/>
                </a:solidFill>
              </a:rPr>
              <a:t>  入口 → 路由 → 模型 → 工具 → 出口</a:t>
            </a:r>
          </a:p>
          <a:p>
            <a:pPr algn="l">
              <a:spcAft>
                <a:spcPts val="300"/>
              </a:spcAft>
            </a:pP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1D1D1F"/>
                </a:solidFill>
              </a:rPr>
              <a:t>OpenClaw 只是把这条链做成了可自我实例化的对象。</a:t>
            </a:r>
          </a:p>
          <a:p>
            <a:pPr algn="l">
              <a:spcAft>
                <a:spcPts val="300"/>
              </a:spcAft>
            </a:pPr>
            <a:r>
              <a:rPr sz="1700" b="1">
                <a:solidFill>
                  <a:srgbClr val="FF6B8A"/>
                </a:solidFill>
              </a:rPr>
              <a:t>你看清了，就可以自己搭——</a:t>
            </a:r>
          </a:p>
          <a:p>
            <a:pPr algn="l">
              <a:spcAft>
                <a:spcPts val="300"/>
              </a:spcAft>
            </a:pPr>
          </a:p>
          <a:p>
            <a:pPr algn="l">
              <a:spcAft>
                <a:spcPts val="300"/>
              </a:spcAft>
            </a:pPr>
            <a:r>
              <a:rPr sz="1600" b="1">
                <a:solidFill>
                  <a:srgbClr val="006D6D"/>
                </a:solidFill>
              </a:rPr>
              <a:t>  你的入口 → 你的 Gateway → 你的模型 → 你的 Skills → 回你</a:t>
            </a:r>
          </a:p>
          <a:p>
            <a:pPr algn="l">
              <a:spcAft>
                <a:spcPts val="300"/>
              </a:spcAft>
            </a:pP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86868B"/>
                </a:solidFill>
              </a:rPr>
              <a:t>  ➕ MCP 协议  ·  CLI 能力  ·  API 网关  ·  行业 Skills</a:t>
            </a:r>
          </a:p>
          <a:p>
            <a:pPr algn="l">
              <a:spcAft>
                <a:spcPts val="300"/>
              </a:spcAft>
            </a:pPr>
          </a:p>
          <a:p>
            <a:pPr algn="l">
              <a:spcAft>
                <a:spcPts val="300"/>
              </a:spcAft>
            </a:pPr>
            <a:r>
              <a:rPr sz="1600" b="1">
                <a:solidFill>
                  <a:srgbClr val="34C759"/>
                </a:solidFill>
              </a:rPr>
              <a:t>数据不走别人服务器，安全你说了算。</a:t>
            </a:r>
          </a:p>
          <a:p>
            <a:pPr algn="l">
              <a:spcAft>
                <a:spcPts val="300"/>
              </a:spcAft>
            </a:pPr>
            <a:r>
              <a:rPr sz="1600" b="1">
                <a:solidFill>
                  <a:srgbClr val="34C759"/>
                </a:solidFill>
              </a:rPr>
              <a:t>进化方向你自己定。</a:t>
            </a:r>
          </a:p>
          <a:p>
            <a:pPr algn="l">
              <a:spcAft>
                <a:spcPts val="300"/>
              </a:spcAft>
            </a:pP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1D1D1F"/>
                </a:solidFill>
              </a:rPr>
              <a:t>OpenClaw 不是终点——</a:t>
            </a:r>
          </a:p>
          <a:p>
            <a:pPr algn="l">
              <a:spcAft>
                <a:spcPts val="300"/>
              </a:spcAft>
            </a:pPr>
            <a:r>
              <a:rPr sz="2000" b="1">
                <a:solidFill>
                  <a:srgbClr val="FF6B8A"/>
                </a:solidFill>
              </a:rPr>
              <a:t>它是已经搭好的脚手架。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E0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1D1D1F"/>
                </a:solidFill>
              </a:rPr>
              <a:t>看懂了的，已经在搭了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657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86868B"/>
                </a:solidFill>
              </a:rPr>
              <a:t>太一 × SAYELF  · 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33295" cy="12700"/>
          </a:xfrm>
          <a:prstGeom prst="rect">
            <a:avLst/>
          </a:prstGeom>
          <a:solidFill>
            <a:srgbClr val="E6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937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EAEB4"/>
                </a:solidFill>
              </a:rPr>
              <a:t>#AI架构  #Agent真相  #OpenClaw  #自建Agent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